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6a74aeb-1191-38a4-ae5a-125fa98ad288}">
          <p14:sldIdLst>
            <p14:sldId id="256"/>
          </p14:sldIdLst>
        </p14:section>
        <p14:section name="Context" id="{4ba8ce96-f23d-ef1f-8c61-7034cd4f9368}">
          <p14:sldIdLst>
            <p14:sldId id="257"/>
            <p14:sldId id="258"/>
          </p14:sldIdLst>
        </p14:section>
        <p14:section name="Weekly journey" id="{f28e624a-4b19-f6ae-fc98-82a71b534c49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Outcomes" id="{dafb763d-bb77-c687-5bed-754b69e50eb2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 company, plant and duration. One line: most of my time went on a Factory Floor Maintenance Dashboard, plus MPAS store process mapping and some support on VEMS.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short. OS&amp;BE is Operations and Business Excellence.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problem: the line has thousands of tools but only some are used daily. The morning production plan shows which vehicles are built, and each vehicle needs a set of tools. The dashboard links the two. Secondary problem: paper-based incident logging.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weeks left to right. Each week starts from what the previous one delivered.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Weekly off: 18 May. This week was all about understanding the plant and what the team needed before writing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Weekly off: 25 May.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Firestore: real-time sync and no server to maintain. Why TypeScript: catches data mistakes before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Weekly off: 1 Jun. The tool planner was a requirement from the maintenance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was a requirement from the maintenance team. Thousands of tools, but each vehicle type uses only a set of them. Tell the story with one example vehicle. It is called BOM lookup in the diary.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Weekly off: 8 Jun. Be honest that VEMS was supporting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Weekly off: 15 Jun. Root cause analysis means asking why repeatedly until the underlying cause appears.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MTBF: mean time between failures (reliability). MTTR: mean time to repair.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the one you can speak about best.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to EIE: instrumentation produces the sensor data and this dashboard is where it would be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SUMMER INDUSTRIAL INTERNSHIP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Transformation Initiatives in Maintenance &amp; Business Operations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Ashok Leyland Limited, Alwar Plant  |  17 May – 19 June 2026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Shreyansh Choudhary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24BEI0025  |  B.Tech Electronics and Instrumentation Engineering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Vellore Institute of Technology, Vellore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Industry mentor: Vaseem Akhtar, Deputy Manager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Internship at a glance</a:t>
            </a:r>
            <a:endParaRPr lang="en-US" sz="2800" dirty="0"/>
          </a:p>
        </p:txBody>
      </p:sp>
      <p:sp>
        <p:nvSpPr>
          <p:cNvPr id="3" name="Stat card 34"/>
          <p:cNvSpPr/>
          <p:nvPr/>
        </p:nvSpPr>
        <p:spPr>
          <a:xfrm>
            <a:off x="548640" y="1280160"/>
            <a:ext cx="1874520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 edge 34"/>
          <p:cNvSpPr/>
          <p:nvPr/>
        </p:nvSpPr>
        <p:spPr>
          <a:xfrm>
            <a:off x="548640" y="1280160"/>
            <a:ext cx="187452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days (29 working)</a:t>
            </a:r>
            <a:endParaRPr lang="en-US" sz="1300" dirty="0"/>
          </a:p>
        </p:txBody>
      </p:sp>
      <p:sp>
        <p:nvSpPr>
          <p:cNvPr id="7" name="Stat card 2"/>
          <p:cNvSpPr/>
          <p:nvPr/>
        </p:nvSpPr>
        <p:spPr>
          <a:xfrm>
            <a:off x="2606040" y="1280160"/>
            <a:ext cx="1874520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t edge 2"/>
          <p:cNvSpPr/>
          <p:nvPr/>
        </p:nvSpPr>
        <p:spPr>
          <a:xfrm>
            <a:off x="2606040" y="1280160"/>
            <a:ext cx="187452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06040" y="14630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2860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departments: Maintenance and OS&amp;BE</a:t>
            </a:r>
            <a:endParaRPr lang="en-US" sz="1300" dirty="0"/>
          </a:p>
        </p:txBody>
      </p:sp>
      <p:sp>
        <p:nvSpPr>
          <p:cNvPr id="11" name="Stat card 3"/>
          <p:cNvSpPr/>
          <p:nvPr/>
        </p:nvSpPr>
        <p:spPr>
          <a:xfrm>
            <a:off x="4663440" y="1280160"/>
            <a:ext cx="1874520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at edge 3"/>
          <p:cNvSpPr/>
          <p:nvPr/>
        </p:nvSpPr>
        <p:spPr>
          <a:xfrm>
            <a:off x="4663440" y="1280160"/>
            <a:ext cx="187452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4630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2860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work areas: Dashboard, MPAS, VEMS</a:t>
            </a:r>
            <a:endParaRPr lang="en-US" sz="1300" dirty="0"/>
          </a:p>
        </p:txBody>
      </p:sp>
      <p:sp>
        <p:nvSpPr>
          <p:cNvPr id="15" name="Stat card 1"/>
          <p:cNvSpPr/>
          <p:nvPr/>
        </p:nvSpPr>
        <p:spPr>
          <a:xfrm>
            <a:off x="6720840" y="1280160"/>
            <a:ext cx="1874520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at edge 1"/>
          <p:cNvSpPr/>
          <p:nvPr/>
        </p:nvSpPr>
        <p:spPr>
          <a:xfrm>
            <a:off x="6720840" y="1280160"/>
            <a:ext cx="187452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20840" y="14630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22860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dashboard built, deployed and demonstrated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383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Company: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Ashok Leyland Limited (Hinduja Group), commercial vehicle manufacturer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Plant: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Alwar, Rajasthan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Role: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Industrial trainee, Maintenance and OS&amp;BE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which tools matter today?</a:t>
            </a:r>
            <a:endParaRPr lang="en-US" sz="2800" dirty="0"/>
          </a:p>
        </p:txBody>
      </p:sp>
      <p:sp>
        <p:nvSpPr>
          <p:cNvPr id="3" name="Problem panel"/>
          <p:cNvSpPr/>
          <p:nvPr/>
        </p:nvSpPr>
        <p:spPr>
          <a:xfrm>
            <a:off x="548640" y="1280160"/>
            <a:ext cx="3840480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What the team faced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Thousands of tools on the assembly line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Only some are used each day, depending on the vehicles being built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link between the daily plan and maintenance priorities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Incidents logged on paper: delays and lost records</a:t>
            </a:r>
            <a:endParaRPr lang="en-US" sz="1500" dirty="0"/>
          </a:p>
        </p:txBody>
      </p:sp>
      <p:sp>
        <p:nvSpPr>
          <p:cNvPr id="6" name="Badge →"/>
          <p:cNvSpPr/>
          <p:nvPr/>
        </p:nvSpPr>
        <p:spPr>
          <a:xfrm>
            <a:off x="4526280" y="2514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→</a:t>
            </a:r>
            <a:endParaRPr lang="en-US" sz="1200" dirty="0"/>
          </a:p>
        </p:txBody>
      </p:sp>
      <p:sp>
        <p:nvSpPr>
          <p:cNvPr id="8" name="Solution panel"/>
          <p:cNvSpPr/>
          <p:nvPr/>
        </p:nvSpPr>
        <p:spPr>
          <a:xfrm>
            <a:off x="5120640" y="1280160"/>
            <a:ext cx="3474720" cy="31089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4924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The solution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349240" y="18745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web-based Factory Floor Maintenance Dashboard. Its key feature turns the daily vehicle plan into a prioritised tool list, with export for the crew. It also adds incident logging, an asset registry and an SOP chatbot.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five-week journey</a:t>
            </a:r>
            <a:endParaRPr lang="en-US" sz="2800" dirty="0"/>
          </a:p>
        </p:txBody>
      </p:sp>
      <p:sp>
        <p:nvSpPr>
          <p:cNvPr id="3" name="Journey card Week 1"/>
          <p:cNvSpPr/>
          <p:nvPr/>
        </p:nvSpPr>
        <p:spPr>
          <a:xfrm>
            <a:off x="548640" y="1371600"/>
            <a:ext cx="1463040" cy="2377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Journey edge Week 1"/>
          <p:cNvSpPr/>
          <p:nvPr/>
        </p:nvSpPr>
        <p:spPr>
          <a:xfrm>
            <a:off x="548640" y="1371600"/>
            <a:ext cx="1463040" cy="64008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Badge 1"/>
          <p:cNvSpPr/>
          <p:nvPr/>
        </p:nvSpPr>
        <p:spPr>
          <a:xfrm>
            <a:off x="1051560" y="160020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94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17–23 May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6032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Orientation and requirements</a:t>
            </a:r>
            <a:endParaRPr lang="en-US" sz="1300" dirty="0"/>
          </a:p>
        </p:txBody>
      </p:sp>
      <p:sp>
        <p:nvSpPr>
          <p:cNvPr id="9" name="Badge ›"/>
          <p:cNvSpPr/>
          <p:nvPr/>
        </p:nvSpPr>
        <p:spPr>
          <a:xfrm>
            <a:off x="1920240" y="182880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2024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›</a:t>
            </a:r>
            <a:endParaRPr lang="en-US" sz="1200" dirty="0"/>
          </a:p>
        </p:txBody>
      </p:sp>
      <p:sp>
        <p:nvSpPr>
          <p:cNvPr id="11" name="Journey card Week 2"/>
          <p:cNvSpPr/>
          <p:nvPr/>
        </p:nvSpPr>
        <p:spPr>
          <a:xfrm>
            <a:off x="2176272" y="1371600"/>
            <a:ext cx="1463040" cy="2377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Journey edge Week 2"/>
          <p:cNvSpPr/>
          <p:nvPr/>
        </p:nvSpPr>
        <p:spPr>
          <a:xfrm>
            <a:off x="2176272" y="1371600"/>
            <a:ext cx="1463040" cy="64008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Badge 2"/>
          <p:cNvSpPr/>
          <p:nvPr/>
        </p:nvSpPr>
        <p:spPr>
          <a:xfrm>
            <a:off x="2679192" y="160020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79192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221992" y="2194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24–30 May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267712" y="256032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Design and first modules</a:t>
            </a:r>
            <a:endParaRPr lang="en-US" sz="1300" dirty="0"/>
          </a:p>
        </p:txBody>
      </p:sp>
      <p:sp>
        <p:nvSpPr>
          <p:cNvPr id="17" name="Badge ›"/>
          <p:cNvSpPr/>
          <p:nvPr/>
        </p:nvSpPr>
        <p:spPr>
          <a:xfrm>
            <a:off x="3547872" y="182880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47872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›</a:t>
            </a:r>
            <a:endParaRPr lang="en-US" sz="1200" dirty="0"/>
          </a:p>
        </p:txBody>
      </p:sp>
      <p:sp>
        <p:nvSpPr>
          <p:cNvPr id="19" name="Journey card Week 3"/>
          <p:cNvSpPr/>
          <p:nvPr/>
        </p:nvSpPr>
        <p:spPr>
          <a:xfrm>
            <a:off x="3803904" y="1371600"/>
            <a:ext cx="1463040" cy="2377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Journey edge Week 3"/>
          <p:cNvSpPr/>
          <p:nvPr/>
        </p:nvSpPr>
        <p:spPr>
          <a:xfrm>
            <a:off x="3803904" y="1371600"/>
            <a:ext cx="1463040" cy="64008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Badge 3"/>
          <p:cNvSpPr/>
          <p:nvPr/>
        </p:nvSpPr>
        <p:spPr>
          <a:xfrm>
            <a:off x="4306824" y="160020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06824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849624" y="2194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31 May–6 Jun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895344" y="256032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Planner, chatbot and testing</a:t>
            </a:r>
            <a:endParaRPr lang="en-US" sz="1300" dirty="0"/>
          </a:p>
        </p:txBody>
      </p:sp>
      <p:sp>
        <p:nvSpPr>
          <p:cNvPr id="25" name="Badge ›"/>
          <p:cNvSpPr/>
          <p:nvPr/>
        </p:nvSpPr>
        <p:spPr>
          <a:xfrm>
            <a:off x="5175504" y="182880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75504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›</a:t>
            </a:r>
            <a:endParaRPr lang="en-US" sz="1200" dirty="0"/>
          </a:p>
        </p:txBody>
      </p:sp>
      <p:sp>
        <p:nvSpPr>
          <p:cNvPr id="27" name="Journey card Week 4"/>
          <p:cNvSpPr/>
          <p:nvPr/>
        </p:nvSpPr>
        <p:spPr>
          <a:xfrm>
            <a:off x="5431536" y="1371600"/>
            <a:ext cx="1463040" cy="2377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Journey edge Week 4"/>
          <p:cNvSpPr/>
          <p:nvPr/>
        </p:nvSpPr>
        <p:spPr>
          <a:xfrm>
            <a:off x="5431536" y="1371600"/>
            <a:ext cx="1463040" cy="64008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Badge 4"/>
          <p:cNvSpPr/>
          <p:nvPr/>
        </p:nvSpPr>
        <p:spPr>
          <a:xfrm>
            <a:off x="5934456" y="160020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34456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77256" y="2194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7–13 Jun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522976" y="256032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Deploy, demo and VEMS</a:t>
            </a:r>
            <a:endParaRPr lang="en-US" sz="1300" dirty="0"/>
          </a:p>
        </p:txBody>
      </p:sp>
      <p:sp>
        <p:nvSpPr>
          <p:cNvPr id="33" name="Badge ›"/>
          <p:cNvSpPr/>
          <p:nvPr/>
        </p:nvSpPr>
        <p:spPr>
          <a:xfrm>
            <a:off x="6803136" y="182880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03136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›</a:t>
            </a:r>
            <a:endParaRPr lang="en-US" sz="1200" dirty="0"/>
          </a:p>
        </p:txBody>
      </p:sp>
      <p:sp>
        <p:nvSpPr>
          <p:cNvPr id="35" name="Journey card Week 5"/>
          <p:cNvSpPr/>
          <p:nvPr/>
        </p:nvSpPr>
        <p:spPr>
          <a:xfrm>
            <a:off x="7059168" y="1371600"/>
            <a:ext cx="1463040" cy="2377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Journey edge Week 5"/>
          <p:cNvSpPr/>
          <p:nvPr/>
        </p:nvSpPr>
        <p:spPr>
          <a:xfrm>
            <a:off x="7059168" y="1371600"/>
            <a:ext cx="146304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Badge 5"/>
          <p:cNvSpPr/>
          <p:nvPr/>
        </p:nvSpPr>
        <p:spPr>
          <a:xfrm>
            <a:off x="7562088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56208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5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104888" y="2194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14–19 Jun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7150608" y="256032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MPAS mapping and wrap-up</a:t>
            </a:r>
            <a:endParaRPr lang="en-US" sz="1300" dirty="0"/>
          </a:p>
        </p:txBody>
      </p:sp>
      <p:sp>
        <p:nvSpPr>
          <p:cNvPr id="41" name="Journey note"/>
          <p:cNvSpPr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77240" y="39319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Each week built on the last: requirements, then design, then build and test, then deploy and demo, then store process mapping.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1: Orientation and requirements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17 May – 23 May 2026</a:t>
            </a:r>
            <a:endParaRPr lang="en-US" sz="1300" dirty="0"/>
          </a:p>
        </p:txBody>
      </p:sp>
      <p:sp>
        <p:nvSpPr>
          <p:cNvPr id="4" name="Carried in panel"/>
          <p:cNvSpPr/>
          <p:nvPr/>
        </p:nvSpPr>
        <p:spPr>
          <a:xfrm>
            <a:off x="548640" y="1325880"/>
            <a:ext cx="2286000" cy="2743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Starting point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28800"/>
            <a:ext cx="1920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No plant experience yet. Maintenance incidents were logged on paper, and the line uses thousands of tools.</a:t>
            </a:r>
            <a:endParaRPr lang="en-US" sz="1300" dirty="0"/>
          </a:p>
        </p:txBody>
      </p:sp>
      <p:sp>
        <p:nvSpPr>
          <p:cNvPr id="7" name="Badge ›"/>
          <p:cNvSpPr/>
          <p:nvPr/>
        </p:nvSpPr>
        <p:spPr>
          <a:xfrm>
            <a:off x="2926080" y="25146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2608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›</a:t>
            </a:r>
            <a:endParaRPr lang="en-US" sz="1200" dirty="0"/>
          </a:p>
        </p:txBody>
      </p:sp>
      <p:sp>
        <p:nvSpPr>
          <p:cNvPr id="9" name="This week panel"/>
          <p:cNvSpPr/>
          <p:nvPr/>
        </p:nvSpPr>
        <p:spPr>
          <a:xfrm>
            <a:off x="3429000" y="1325880"/>
            <a:ext cx="5166360" cy="2743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his week edge"/>
          <p:cNvSpPr/>
          <p:nvPr/>
        </p:nvSpPr>
        <p:spPr>
          <a:xfrm>
            <a:off x="3429000" y="1325880"/>
            <a:ext cx="54864" cy="2743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1417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What I did this week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1783080"/>
            <a:ext cx="4754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17 May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Induction: company policies, safety and PPE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19 May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Plant floor tour; met technicians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20 May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Studied the paper-based logging process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21 May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Scoped the dashboard with my mentor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22 May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Requirement-gathering sessions with maintenance staff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23 May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Evaluated options and finalised the tech stack</a:t>
            </a:r>
            <a:endParaRPr lang="en-US" sz="1300" dirty="0"/>
          </a:p>
        </p:txBody>
      </p:sp>
      <p:sp>
        <p:nvSpPr>
          <p:cNvPr id="13" name="Output strip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1605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Output: documented requirements and a chosen tech stack</a:t>
            </a:r>
            <a:endParaRPr lang="en-US" sz="1300" dirty="0"/>
          </a:p>
        </p:txBody>
      </p:sp>
      <p:sp>
        <p:nvSpPr>
          <p:cNvPr id="15" name="Week dot 1"/>
          <p:cNvSpPr/>
          <p:nvPr/>
        </p:nvSpPr>
        <p:spPr>
          <a:xfrm>
            <a:off x="548640" y="475488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W1</a:t>
            </a:r>
            <a:endParaRPr lang="en-US" sz="800" dirty="0"/>
          </a:p>
        </p:txBody>
      </p:sp>
      <p:sp>
        <p:nvSpPr>
          <p:cNvPr id="17" name="Week dot 2"/>
          <p:cNvSpPr/>
          <p:nvPr/>
        </p:nvSpPr>
        <p:spPr>
          <a:xfrm>
            <a:off x="960120" y="475488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3"/>
                </a:solidFill>
              </a:rPr>
              <a:t>W2</a:t>
            </a:r>
            <a:endParaRPr lang="en-US" sz="800" dirty="0"/>
          </a:p>
        </p:txBody>
      </p:sp>
      <p:sp>
        <p:nvSpPr>
          <p:cNvPr id="19" name="Week dot 3"/>
          <p:cNvSpPr/>
          <p:nvPr/>
        </p:nvSpPr>
        <p:spPr>
          <a:xfrm>
            <a:off x="1371600" y="475488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7160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3"/>
                </a:solidFill>
              </a:rPr>
              <a:t>W3</a:t>
            </a:r>
            <a:endParaRPr lang="en-US" sz="800" dirty="0"/>
          </a:p>
        </p:txBody>
      </p:sp>
      <p:sp>
        <p:nvSpPr>
          <p:cNvPr id="21" name="Week dot 4"/>
          <p:cNvSpPr/>
          <p:nvPr/>
        </p:nvSpPr>
        <p:spPr>
          <a:xfrm>
            <a:off x="1783080" y="475488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78308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3"/>
                </a:solidFill>
              </a:rPr>
              <a:t>W4</a:t>
            </a:r>
            <a:endParaRPr lang="en-US" sz="800" dirty="0"/>
          </a:p>
        </p:txBody>
      </p:sp>
      <p:sp>
        <p:nvSpPr>
          <p:cNvPr id="23" name="Week dot 5"/>
          <p:cNvSpPr/>
          <p:nvPr/>
        </p:nvSpPr>
        <p:spPr>
          <a:xfrm>
            <a:off x="2194560" y="475488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19456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3"/>
                </a:solidFill>
              </a:rPr>
              <a:t>W5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2: Design and first modules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24 May – 30 May 2026</a:t>
            </a:r>
            <a:endParaRPr lang="en-US" sz="1300" dirty="0"/>
          </a:p>
        </p:txBody>
      </p:sp>
      <p:sp>
        <p:nvSpPr>
          <p:cNvPr id="4" name="Carried in panel"/>
          <p:cNvSpPr/>
          <p:nvPr/>
        </p:nvSpPr>
        <p:spPr>
          <a:xfrm>
            <a:off x="548640" y="1325880"/>
            <a:ext cx="2286000" cy="2743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Carried in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28800"/>
            <a:ext cx="1920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Requirements documented, scope agreed with my mentor, tech stack finalised (React, TypeScript, Vite, Tailwind, Firebase).</a:t>
            </a:r>
            <a:endParaRPr lang="en-US" sz="1300" dirty="0"/>
          </a:p>
        </p:txBody>
      </p:sp>
      <p:sp>
        <p:nvSpPr>
          <p:cNvPr id="7" name="Badge ›"/>
          <p:cNvSpPr/>
          <p:nvPr/>
        </p:nvSpPr>
        <p:spPr>
          <a:xfrm>
            <a:off x="2926080" y="25146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2608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›</a:t>
            </a:r>
            <a:endParaRPr lang="en-US" sz="1200" dirty="0"/>
          </a:p>
        </p:txBody>
      </p:sp>
      <p:sp>
        <p:nvSpPr>
          <p:cNvPr id="9" name="This week panel"/>
          <p:cNvSpPr/>
          <p:nvPr/>
        </p:nvSpPr>
        <p:spPr>
          <a:xfrm>
            <a:off x="3429000" y="1325880"/>
            <a:ext cx="5166360" cy="2743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his week edge"/>
          <p:cNvSpPr/>
          <p:nvPr/>
        </p:nvSpPr>
        <p:spPr>
          <a:xfrm>
            <a:off x="3429000" y="1325880"/>
            <a:ext cx="54864" cy="2743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1417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What I did this week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1783080"/>
            <a:ext cx="4754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24 May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Set up the repository and Firebase project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26 May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Wireframes, reviewed with my mentor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27 May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Role-based authentication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28 May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Incident logging interface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29 May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Firestore integration and testing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30 May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Asset registry data schema</a:t>
            </a:r>
            <a:endParaRPr lang="en-US" sz="1300" dirty="0"/>
          </a:p>
        </p:txBody>
      </p:sp>
      <p:sp>
        <p:nvSpPr>
          <p:cNvPr id="13" name="Output strip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1605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Output: working login, incident logging and asset data model</a:t>
            </a:r>
            <a:endParaRPr lang="en-US" sz="1300" dirty="0"/>
          </a:p>
        </p:txBody>
      </p:sp>
      <p:sp>
        <p:nvSpPr>
          <p:cNvPr id="15" name="Week dot 1"/>
          <p:cNvSpPr/>
          <p:nvPr/>
        </p:nvSpPr>
        <p:spPr>
          <a:xfrm>
            <a:off x="548640" y="475488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3"/>
                </a:solidFill>
              </a:rPr>
              <a:t>W1</a:t>
            </a:r>
            <a:endParaRPr lang="en-US" sz="800" dirty="0"/>
          </a:p>
        </p:txBody>
      </p:sp>
      <p:sp>
        <p:nvSpPr>
          <p:cNvPr id="17" name="Week dot 2"/>
          <p:cNvSpPr/>
          <p:nvPr/>
        </p:nvSpPr>
        <p:spPr>
          <a:xfrm>
            <a:off x="960120" y="475488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W2</a:t>
            </a:r>
            <a:endParaRPr lang="en-US" sz="800" dirty="0"/>
          </a:p>
        </p:txBody>
      </p:sp>
      <p:sp>
        <p:nvSpPr>
          <p:cNvPr id="19" name="Week dot 3"/>
          <p:cNvSpPr/>
          <p:nvPr/>
        </p:nvSpPr>
        <p:spPr>
          <a:xfrm>
            <a:off x="1371600" y="475488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7160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3"/>
                </a:solidFill>
              </a:rPr>
              <a:t>W3</a:t>
            </a:r>
            <a:endParaRPr lang="en-US" sz="800" dirty="0"/>
          </a:p>
        </p:txBody>
      </p:sp>
      <p:sp>
        <p:nvSpPr>
          <p:cNvPr id="21" name="Week dot 4"/>
          <p:cNvSpPr/>
          <p:nvPr/>
        </p:nvSpPr>
        <p:spPr>
          <a:xfrm>
            <a:off x="1783080" y="475488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78308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3"/>
                </a:solidFill>
              </a:rPr>
              <a:t>W4</a:t>
            </a:r>
            <a:endParaRPr lang="en-US" sz="800" dirty="0"/>
          </a:p>
        </p:txBody>
      </p:sp>
      <p:sp>
        <p:nvSpPr>
          <p:cNvPr id="23" name="Week dot 5"/>
          <p:cNvSpPr/>
          <p:nvPr/>
        </p:nvSpPr>
        <p:spPr>
          <a:xfrm>
            <a:off x="2194560" y="475488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19456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3"/>
                </a:solidFill>
              </a:rPr>
              <a:t>W5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and architecture</a:t>
            </a:r>
            <a:endParaRPr lang="en-US" sz="2800" dirty="0"/>
          </a:p>
        </p:txBody>
      </p:sp>
      <p:sp>
        <p:nvSpPr>
          <p:cNvPr id="3" name="Tier Front end"/>
          <p:cNvSpPr/>
          <p:nvPr/>
        </p:nvSpPr>
        <p:spPr>
          <a:xfrm>
            <a:off x="548640" y="1371600"/>
            <a:ext cx="2468880" cy="2468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ier header Front end"/>
          <p:cNvSpPr/>
          <p:nvPr/>
        </p:nvSpPr>
        <p:spPr>
          <a:xfrm>
            <a:off x="548640" y="1371600"/>
            <a:ext cx="246888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Front end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65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React 18, TypeScript, Vite, Tailwind CSS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34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Reusable typed components, fast builds, responsive screens</a:t>
            </a:r>
            <a:endParaRPr lang="en-US" sz="1200" dirty="0"/>
          </a:p>
        </p:txBody>
      </p:sp>
      <p:sp>
        <p:nvSpPr>
          <p:cNvPr id="8" name="Badge →"/>
          <p:cNvSpPr/>
          <p:nvPr/>
        </p:nvSpPr>
        <p:spPr>
          <a:xfrm>
            <a:off x="3035808" y="242316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35808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→</a:t>
            </a:r>
            <a:endParaRPr lang="en-US" sz="1200" dirty="0"/>
          </a:p>
        </p:txBody>
      </p:sp>
      <p:sp>
        <p:nvSpPr>
          <p:cNvPr id="10" name="Tier Backend"/>
          <p:cNvSpPr/>
          <p:nvPr/>
        </p:nvSpPr>
        <p:spPr>
          <a:xfrm>
            <a:off x="3383280" y="1371600"/>
            <a:ext cx="2468880" cy="2468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ier header Backend"/>
          <p:cNvSpPr/>
          <p:nvPr/>
        </p:nvSpPr>
        <p:spPr>
          <a:xfrm>
            <a:off x="3383280" y="1371600"/>
            <a:ext cx="2468880" cy="4572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83280" y="1371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Backend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1965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Firebase Authentication and Firestore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2834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Login and real-time database with no server to maintain</a:t>
            </a:r>
            <a:endParaRPr lang="en-US" sz="1200" dirty="0"/>
          </a:p>
        </p:txBody>
      </p:sp>
      <p:sp>
        <p:nvSpPr>
          <p:cNvPr id="15" name="Badge →"/>
          <p:cNvSpPr/>
          <p:nvPr/>
        </p:nvSpPr>
        <p:spPr>
          <a:xfrm>
            <a:off x="5870448" y="242316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70448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→</a:t>
            </a:r>
            <a:endParaRPr lang="en-US" sz="1200" dirty="0"/>
          </a:p>
        </p:txBody>
      </p:sp>
      <p:sp>
        <p:nvSpPr>
          <p:cNvPr id="17" name="Tier Hosting"/>
          <p:cNvSpPr/>
          <p:nvPr/>
        </p:nvSpPr>
        <p:spPr>
          <a:xfrm>
            <a:off x="6217920" y="1371600"/>
            <a:ext cx="2468880" cy="2468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ier header Hosting"/>
          <p:cNvSpPr/>
          <p:nvPr/>
        </p:nvSpPr>
        <p:spPr>
          <a:xfrm>
            <a:off x="6217920" y="1371600"/>
            <a:ext cx="2468880" cy="45720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1371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Hosting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1965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Vercel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2834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Production deployment with environment variables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069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Why Firebase: real-time sync means a new incident appears on supervisors' screens without a refresh.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3: Planner, chatbot and testing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31 May – 6 Jun 2026</a:t>
            </a:r>
            <a:endParaRPr lang="en-US" sz="1300" dirty="0"/>
          </a:p>
        </p:txBody>
      </p:sp>
      <p:sp>
        <p:nvSpPr>
          <p:cNvPr id="4" name="Carried in panel"/>
          <p:cNvSpPr/>
          <p:nvPr/>
        </p:nvSpPr>
        <p:spPr>
          <a:xfrm>
            <a:off x="548640" y="1325880"/>
            <a:ext cx="2286000" cy="2743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Carried in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28800"/>
            <a:ext cx="1920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Login, incident logging and the asset registry schema were ready and connected to Firestore.</a:t>
            </a:r>
            <a:endParaRPr lang="en-US" sz="1300" dirty="0"/>
          </a:p>
        </p:txBody>
      </p:sp>
      <p:sp>
        <p:nvSpPr>
          <p:cNvPr id="7" name="Badge ›"/>
          <p:cNvSpPr/>
          <p:nvPr/>
        </p:nvSpPr>
        <p:spPr>
          <a:xfrm>
            <a:off x="2926080" y="25146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2608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›</a:t>
            </a:r>
            <a:endParaRPr lang="en-US" sz="1200" dirty="0"/>
          </a:p>
        </p:txBody>
      </p:sp>
      <p:sp>
        <p:nvSpPr>
          <p:cNvPr id="9" name="This week panel"/>
          <p:cNvSpPr/>
          <p:nvPr/>
        </p:nvSpPr>
        <p:spPr>
          <a:xfrm>
            <a:off x="3429000" y="1325880"/>
            <a:ext cx="5166360" cy="2743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his week edge"/>
          <p:cNvSpPr/>
          <p:nvPr/>
        </p:nvSpPr>
        <p:spPr>
          <a:xfrm>
            <a:off x="3429000" y="1325880"/>
            <a:ext cx="54864" cy="2743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1417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What I did this week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1783080"/>
            <a:ext cx="4754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31 May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Asset registry interface with add, update, delete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2 Jun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Started the tool planner (BOM lookup in the diary)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3 Jun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Search and filters by tool, machine ID and category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4 Jun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Designed the SOP chatbot conversation flow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5 Jun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Implemented the chatbot logic and tested the paths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6 Jun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End-to-end testing; fixed validation and responsiveness bugs</a:t>
            </a:r>
            <a:endParaRPr lang="en-US" sz="1300" dirty="0"/>
          </a:p>
        </p:txBody>
      </p:sp>
      <p:sp>
        <p:nvSpPr>
          <p:cNvPr id="13" name="Output strip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1605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Output: complete dashboard with five modules, tested</a:t>
            </a:r>
            <a:endParaRPr lang="en-US" sz="1300" dirty="0"/>
          </a:p>
        </p:txBody>
      </p:sp>
      <p:sp>
        <p:nvSpPr>
          <p:cNvPr id="15" name="Week dot 1"/>
          <p:cNvSpPr/>
          <p:nvPr/>
        </p:nvSpPr>
        <p:spPr>
          <a:xfrm>
            <a:off x="548640" y="475488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3"/>
                </a:solidFill>
              </a:rPr>
              <a:t>W1</a:t>
            </a:r>
            <a:endParaRPr lang="en-US" sz="800" dirty="0"/>
          </a:p>
        </p:txBody>
      </p:sp>
      <p:sp>
        <p:nvSpPr>
          <p:cNvPr id="17" name="Week dot 2"/>
          <p:cNvSpPr/>
          <p:nvPr/>
        </p:nvSpPr>
        <p:spPr>
          <a:xfrm>
            <a:off x="960120" y="475488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3"/>
                </a:solidFill>
              </a:rPr>
              <a:t>W2</a:t>
            </a:r>
            <a:endParaRPr lang="en-US" sz="800" dirty="0"/>
          </a:p>
        </p:txBody>
      </p:sp>
      <p:sp>
        <p:nvSpPr>
          <p:cNvPr id="19" name="Week dot 3"/>
          <p:cNvSpPr/>
          <p:nvPr/>
        </p:nvSpPr>
        <p:spPr>
          <a:xfrm>
            <a:off x="1371600" y="475488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7160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W3</a:t>
            </a:r>
            <a:endParaRPr lang="en-US" sz="800" dirty="0"/>
          </a:p>
        </p:txBody>
      </p:sp>
      <p:sp>
        <p:nvSpPr>
          <p:cNvPr id="21" name="Week dot 4"/>
          <p:cNvSpPr/>
          <p:nvPr/>
        </p:nvSpPr>
        <p:spPr>
          <a:xfrm>
            <a:off x="1783080" y="475488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78308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3"/>
                </a:solidFill>
              </a:rPr>
              <a:t>W4</a:t>
            </a:r>
            <a:endParaRPr lang="en-US" sz="800" dirty="0"/>
          </a:p>
        </p:txBody>
      </p:sp>
      <p:sp>
        <p:nvSpPr>
          <p:cNvPr id="23" name="Week dot 5"/>
          <p:cNvSpPr/>
          <p:nvPr/>
        </p:nvSpPr>
        <p:spPr>
          <a:xfrm>
            <a:off x="2194560" y="475488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19456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3"/>
                </a:solidFill>
              </a:rPr>
              <a:t>W5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feature: Vehicle-wise Tool Planner</a:t>
            </a:r>
            <a:endParaRPr lang="en-US" sz="2800" dirty="0"/>
          </a:p>
        </p:txBody>
      </p:sp>
      <p:sp>
        <p:nvSpPr>
          <p:cNvPr id="3" name="Flow card Morning plan"/>
          <p:cNvSpPr/>
          <p:nvPr/>
        </p:nvSpPr>
        <p:spPr>
          <a:xfrm>
            <a:off x="548640" y="1325880"/>
            <a:ext cx="146304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low edge Morning plan"/>
          <p:cNvSpPr/>
          <p:nvPr/>
        </p:nvSpPr>
        <p:spPr>
          <a:xfrm>
            <a:off x="548640" y="1325880"/>
            <a:ext cx="1463040" cy="64008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Badge 1"/>
          <p:cNvSpPr/>
          <p:nvPr/>
        </p:nvSpPr>
        <p:spPr>
          <a:xfrm>
            <a:off x="1051560" y="15544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48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Morning plan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606040"/>
            <a:ext cx="12435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The production plan states how many vehicles of each type will be built</a:t>
            </a:r>
            <a:endParaRPr lang="en-US" sz="1100" dirty="0"/>
          </a:p>
        </p:txBody>
      </p:sp>
      <p:sp>
        <p:nvSpPr>
          <p:cNvPr id="9" name="Badge ›"/>
          <p:cNvSpPr/>
          <p:nvPr/>
        </p:nvSpPr>
        <p:spPr>
          <a:xfrm>
            <a:off x="1920240" y="233172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2024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›</a:t>
            </a:r>
            <a:endParaRPr lang="en-US" sz="1200" dirty="0"/>
          </a:p>
        </p:txBody>
      </p:sp>
      <p:sp>
        <p:nvSpPr>
          <p:cNvPr id="11" name="Flow card Select vehicles"/>
          <p:cNvSpPr/>
          <p:nvPr/>
        </p:nvSpPr>
        <p:spPr>
          <a:xfrm>
            <a:off x="2176272" y="1325880"/>
            <a:ext cx="146304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Flow edge Select vehicles"/>
          <p:cNvSpPr/>
          <p:nvPr/>
        </p:nvSpPr>
        <p:spPr>
          <a:xfrm>
            <a:off x="2176272" y="1325880"/>
            <a:ext cx="1463040" cy="64008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Badge 2"/>
          <p:cNvSpPr/>
          <p:nvPr/>
        </p:nvSpPr>
        <p:spPr>
          <a:xfrm>
            <a:off x="2679192" y="15544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7919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221992" y="2148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Select vehicles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2606040"/>
            <a:ext cx="12435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User picks the vehicle types in that day's plan</a:t>
            </a:r>
            <a:endParaRPr lang="en-US" sz="1100" dirty="0"/>
          </a:p>
        </p:txBody>
      </p:sp>
      <p:sp>
        <p:nvSpPr>
          <p:cNvPr id="17" name="Badge ›"/>
          <p:cNvSpPr/>
          <p:nvPr/>
        </p:nvSpPr>
        <p:spPr>
          <a:xfrm>
            <a:off x="3547872" y="233172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47872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›</a:t>
            </a:r>
            <a:endParaRPr lang="en-US" sz="1200" dirty="0"/>
          </a:p>
        </p:txBody>
      </p:sp>
      <p:sp>
        <p:nvSpPr>
          <p:cNvPr id="19" name="Flow card Tool list"/>
          <p:cNvSpPr/>
          <p:nvPr/>
        </p:nvSpPr>
        <p:spPr>
          <a:xfrm>
            <a:off x="3803904" y="1325880"/>
            <a:ext cx="146304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Flow edge Tool list"/>
          <p:cNvSpPr/>
          <p:nvPr/>
        </p:nvSpPr>
        <p:spPr>
          <a:xfrm>
            <a:off x="3803904" y="1325880"/>
            <a:ext cx="1463040" cy="64008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Badge 3"/>
          <p:cNvSpPr/>
          <p:nvPr/>
        </p:nvSpPr>
        <p:spPr>
          <a:xfrm>
            <a:off x="4306824" y="15544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0682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849624" y="2148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Tool list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913632" y="2606040"/>
            <a:ext cx="12435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Dashboard shows every tool those vehicles use; search and filter</a:t>
            </a:r>
            <a:endParaRPr lang="en-US" sz="1100" dirty="0"/>
          </a:p>
        </p:txBody>
      </p:sp>
      <p:sp>
        <p:nvSpPr>
          <p:cNvPr id="25" name="Badge ›"/>
          <p:cNvSpPr/>
          <p:nvPr/>
        </p:nvSpPr>
        <p:spPr>
          <a:xfrm>
            <a:off x="5175504" y="233172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75504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›</a:t>
            </a:r>
            <a:endParaRPr lang="en-US" sz="1200" dirty="0"/>
          </a:p>
        </p:txBody>
      </p:sp>
      <p:sp>
        <p:nvSpPr>
          <p:cNvPr id="27" name="Flow card Prioritise"/>
          <p:cNvSpPr/>
          <p:nvPr/>
        </p:nvSpPr>
        <p:spPr>
          <a:xfrm>
            <a:off x="5431536" y="1325880"/>
            <a:ext cx="146304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Flow edge Prioritise"/>
          <p:cNvSpPr/>
          <p:nvPr/>
        </p:nvSpPr>
        <p:spPr>
          <a:xfrm>
            <a:off x="5431536" y="1325880"/>
            <a:ext cx="1463040" cy="64008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Badge 4"/>
          <p:cNvSpPr/>
          <p:nvPr/>
        </p:nvSpPr>
        <p:spPr>
          <a:xfrm>
            <a:off x="5934456" y="15544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3445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77256" y="2148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Prioritise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541264" y="2606040"/>
            <a:ext cx="12435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Maintenance focuses on tools that will actually be used</a:t>
            </a:r>
            <a:endParaRPr lang="en-US" sz="1100" dirty="0"/>
          </a:p>
        </p:txBody>
      </p:sp>
      <p:sp>
        <p:nvSpPr>
          <p:cNvPr id="33" name="Badge ›"/>
          <p:cNvSpPr/>
          <p:nvPr/>
        </p:nvSpPr>
        <p:spPr>
          <a:xfrm>
            <a:off x="6803136" y="233172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03136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›</a:t>
            </a:r>
            <a:endParaRPr lang="en-US" sz="1200" dirty="0"/>
          </a:p>
        </p:txBody>
      </p:sp>
      <p:sp>
        <p:nvSpPr>
          <p:cNvPr id="35" name="Flow card Export"/>
          <p:cNvSpPr/>
          <p:nvPr/>
        </p:nvSpPr>
        <p:spPr>
          <a:xfrm>
            <a:off x="7059168" y="1325880"/>
            <a:ext cx="146304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Flow edge Export"/>
          <p:cNvSpPr/>
          <p:nvPr/>
        </p:nvSpPr>
        <p:spPr>
          <a:xfrm>
            <a:off x="7059168" y="1325880"/>
            <a:ext cx="146304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Badge 5"/>
          <p:cNvSpPr/>
          <p:nvPr/>
        </p:nvSpPr>
        <p:spPr>
          <a:xfrm>
            <a:off x="7562088" y="1554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56208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5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104888" y="2148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Export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7168896" y="2606040"/>
            <a:ext cx="12435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List is exported and shared with the crew</a:t>
            </a:r>
            <a:endParaRPr lang="en-US" sz="1100" dirty="0"/>
          </a:p>
        </p:txBody>
      </p:sp>
      <p:sp>
        <p:nvSpPr>
          <p:cNvPr id="41" name="Planner outcome"/>
          <p:cNvSpPr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77240" y="41148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Maintenance effort goes first to the tools production depends on that day.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4: Deploy, demo and VEMS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7 Jun – 13 Jun 2026</a:t>
            </a:r>
            <a:endParaRPr lang="en-US" sz="1300" dirty="0"/>
          </a:p>
        </p:txBody>
      </p:sp>
      <p:sp>
        <p:nvSpPr>
          <p:cNvPr id="4" name="Carried in panel"/>
          <p:cNvSpPr/>
          <p:nvPr/>
        </p:nvSpPr>
        <p:spPr>
          <a:xfrm>
            <a:off x="548640" y="1325880"/>
            <a:ext cx="2286000" cy="2743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Carried in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28800"/>
            <a:ext cx="1920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All five modules were built and tested end to end with sample plant data.</a:t>
            </a:r>
            <a:endParaRPr lang="en-US" sz="1300" dirty="0"/>
          </a:p>
        </p:txBody>
      </p:sp>
      <p:sp>
        <p:nvSpPr>
          <p:cNvPr id="7" name="Badge ›"/>
          <p:cNvSpPr/>
          <p:nvPr/>
        </p:nvSpPr>
        <p:spPr>
          <a:xfrm>
            <a:off x="2926080" y="25146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2608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›</a:t>
            </a:r>
            <a:endParaRPr lang="en-US" sz="1200" dirty="0"/>
          </a:p>
        </p:txBody>
      </p:sp>
      <p:sp>
        <p:nvSpPr>
          <p:cNvPr id="9" name="This week panel"/>
          <p:cNvSpPr/>
          <p:nvPr/>
        </p:nvSpPr>
        <p:spPr>
          <a:xfrm>
            <a:off x="3429000" y="1325880"/>
            <a:ext cx="5166360" cy="2743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his week edge"/>
          <p:cNvSpPr/>
          <p:nvPr/>
        </p:nvSpPr>
        <p:spPr>
          <a:xfrm>
            <a:off x="3429000" y="1325880"/>
            <a:ext cx="54864" cy="2743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1417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What I did this week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1783080"/>
            <a:ext cx="4754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7 Jun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Deployed the dashboard to Vercel with production settings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9 Jun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Live demo to the Maintenance team; feedback noted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10 Jun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Moved to Operations &amp; Business Excellence (OS&amp;BE); VEMS orientation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11 Jun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Studied current vendor evaluation practices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12 Jun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Helped shape the 26 sub-KPI scoring framework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13 Jun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Built a UI prototype for VEMS</a:t>
            </a:r>
            <a:endParaRPr lang="en-US" sz="1300" dirty="0"/>
          </a:p>
        </p:txBody>
      </p:sp>
      <p:sp>
        <p:nvSpPr>
          <p:cNvPr id="13" name="Output strip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1605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Output: dashboard live and demonstrated; VEMS framework and prototype</a:t>
            </a:r>
            <a:endParaRPr lang="en-US" sz="1300" dirty="0"/>
          </a:p>
        </p:txBody>
      </p:sp>
      <p:sp>
        <p:nvSpPr>
          <p:cNvPr id="15" name="Week dot 1"/>
          <p:cNvSpPr/>
          <p:nvPr/>
        </p:nvSpPr>
        <p:spPr>
          <a:xfrm>
            <a:off x="548640" y="475488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3"/>
                </a:solidFill>
              </a:rPr>
              <a:t>W1</a:t>
            </a:r>
            <a:endParaRPr lang="en-US" sz="800" dirty="0"/>
          </a:p>
        </p:txBody>
      </p:sp>
      <p:sp>
        <p:nvSpPr>
          <p:cNvPr id="17" name="Week dot 2"/>
          <p:cNvSpPr/>
          <p:nvPr/>
        </p:nvSpPr>
        <p:spPr>
          <a:xfrm>
            <a:off x="960120" y="475488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3"/>
                </a:solidFill>
              </a:rPr>
              <a:t>W2</a:t>
            </a:r>
            <a:endParaRPr lang="en-US" sz="800" dirty="0"/>
          </a:p>
        </p:txBody>
      </p:sp>
      <p:sp>
        <p:nvSpPr>
          <p:cNvPr id="19" name="Week dot 3"/>
          <p:cNvSpPr/>
          <p:nvPr/>
        </p:nvSpPr>
        <p:spPr>
          <a:xfrm>
            <a:off x="1371600" y="475488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7160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3"/>
                </a:solidFill>
              </a:rPr>
              <a:t>W3</a:t>
            </a:r>
            <a:endParaRPr lang="en-US" sz="800" dirty="0"/>
          </a:p>
        </p:txBody>
      </p:sp>
      <p:sp>
        <p:nvSpPr>
          <p:cNvPr id="21" name="Week dot 4"/>
          <p:cNvSpPr/>
          <p:nvPr/>
        </p:nvSpPr>
        <p:spPr>
          <a:xfrm>
            <a:off x="1783080" y="475488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78308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W4</a:t>
            </a:r>
            <a:endParaRPr lang="en-US" sz="800" dirty="0"/>
          </a:p>
        </p:txBody>
      </p:sp>
      <p:sp>
        <p:nvSpPr>
          <p:cNvPr id="23" name="Week dot 5"/>
          <p:cNvSpPr/>
          <p:nvPr/>
        </p:nvSpPr>
        <p:spPr>
          <a:xfrm>
            <a:off x="2194560" y="475488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19456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3"/>
                </a:solidFill>
              </a:rPr>
              <a:t>W5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5: MPAS mapping and wrap-up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14 Jun – 19 Jun 2026</a:t>
            </a:r>
            <a:endParaRPr lang="en-US" sz="1300" dirty="0"/>
          </a:p>
        </p:txBody>
      </p:sp>
      <p:sp>
        <p:nvSpPr>
          <p:cNvPr id="4" name="Carried in panel"/>
          <p:cNvSpPr/>
          <p:nvPr/>
        </p:nvSpPr>
        <p:spPr>
          <a:xfrm>
            <a:off x="548640" y="1325880"/>
            <a:ext cx="2286000" cy="2743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Carried in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28800"/>
            <a:ext cx="1920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Dashboard delivered to the Maintenance team. VEMS framework and prototype in place.</a:t>
            </a:r>
            <a:endParaRPr lang="en-US" sz="1300" dirty="0"/>
          </a:p>
        </p:txBody>
      </p:sp>
      <p:sp>
        <p:nvSpPr>
          <p:cNvPr id="7" name="Badge ›"/>
          <p:cNvSpPr/>
          <p:nvPr/>
        </p:nvSpPr>
        <p:spPr>
          <a:xfrm>
            <a:off x="2926080" y="25146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2608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›</a:t>
            </a:r>
            <a:endParaRPr lang="en-US" sz="1200" dirty="0"/>
          </a:p>
        </p:txBody>
      </p:sp>
      <p:sp>
        <p:nvSpPr>
          <p:cNvPr id="9" name="This week panel"/>
          <p:cNvSpPr/>
          <p:nvPr/>
        </p:nvSpPr>
        <p:spPr>
          <a:xfrm>
            <a:off x="3429000" y="1325880"/>
            <a:ext cx="5166360" cy="2743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his week edge"/>
          <p:cNvSpPr/>
          <p:nvPr/>
        </p:nvSpPr>
        <p:spPr>
          <a:xfrm>
            <a:off x="3429000" y="1325880"/>
            <a:ext cx="54864" cy="2743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1417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What I did this week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1783080"/>
            <a:ext cx="4754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14 Jun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Discussed the hosting plan for VEMS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16 Jun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Helped draft the IT infrastructure request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17 Jun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Mapped the 50-step MPAS store process by interviewing staff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18 Jun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Root cause analysis of bottlenecks; areas for digitization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19 Jun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Compiled the internship completion report</a:t>
            </a:r>
            <a:endParaRPr lang="en-US" sz="1300" dirty="0"/>
          </a:p>
        </p:txBody>
      </p:sp>
      <p:sp>
        <p:nvSpPr>
          <p:cNvPr id="13" name="Output strip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1605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Output: MPAS process map and root cause analysis; completion report</a:t>
            </a:r>
            <a:endParaRPr lang="en-US" sz="1300" dirty="0"/>
          </a:p>
        </p:txBody>
      </p:sp>
      <p:sp>
        <p:nvSpPr>
          <p:cNvPr id="15" name="Week dot 1"/>
          <p:cNvSpPr/>
          <p:nvPr/>
        </p:nvSpPr>
        <p:spPr>
          <a:xfrm>
            <a:off x="548640" y="475488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3"/>
                </a:solidFill>
              </a:rPr>
              <a:t>W1</a:t>
            </a:r>
            <a:endParaRPr lang="en-US" sz="800" dirty="0"/>
          </a:p>
        </p:txBody>
      </p:sp>
      <p:sp>
        <p:nvSpPr>
          <p:cNvPr id="17" name="Week dot 2"/>
          <p:cNvSpPr/>
          <p:nvPr/>
        </p:nvSpPr>
        <p:spPr>
          <a:xfrm>
            <a:off x="960120" y="475488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3"/>
                </a:solidFill>
              </a:rPr>
              <a:t>W2</a:t>
            </a:r>
            <a:endParaRPr lang="en-US" sz="800" dirty="0"/>
          </a:p>
        </p:txBody>
      </p:sp>
      <p:sp>
        <p:nvSpPr>
          <p:cNvPr id="19" name="Week dot 3"/>
          <p:cNvSpPr/>
          <p:nvPr/>
        </p:nvSpPr>
        <p:spPr>
          <a:xfrm>
            <a:off x="1371600" y="475488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7160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3"/>
                </a:solidFill>
              </a:rPr>
              <a:t>W3</a:t>
            </a:r>
            <a:endParaRPr lang="en-US" sz="800" dirty="0"/>
          </a:p>
        </p:txBody>
      </p:sp>
      <p:sp>
        <p:nvSpPr>
          <p:cNvPr id="21" name="Week dot 4"/>
          <p:cNvSpPr/>
          <p:nvPr/>
        </p:nvSpPr>
        <p:spPr>
          <a:xfrm>
            <a:off x="1783080" y="475488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78308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3"/>
                </a:solidFill>
              </a:rPr>
              <a:t>W4</a:t>
            </a:r>
            <a:endParaRPr lang="en-US" sz="800" dirty="0"/>
          </a:p>
        </p:txBody>
      </p:sp>
      <p:sp>
        <p:nvSpPr>
          <p:cNvPr id="23" name="Week dot 5"/>
          <p:cNvSpPr/>
          <p:nvPr/>
        </p:nvSpPr>
        <p:spPr>
          <a:xfrm>
            <a:off x="2194560" y="475488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19456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W5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and learning</a:t>
            </a:r>
            <a:endParaRPr lang="en-US" sz="2800" dirty="0"/>
          </a:p>
        </p:txBody>
      </p:sp>
      <p:sp>
        <p:nvSpPr>
          <p:cNvPr id="3" name="Card Technical"/>
          <p:cNvSpPr/>
          <p:nvPr/>
        </p:nvSpPr>
        <p:spPr>
          <a:xfrm>
            <a:off x="548640" y="1188720"/>
            <a:ext cx="393192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d edge Technical"/>
          <p:cNvSpPr/>
          <p:nvPr/>
        </p:nvSpPr>
        <p:spPr>
          <a:xfrm>
            <a:off x="548640" y="1188720"/>
            <a:ext cx="54864" cy="1600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 1"/>
          <p:cNvSpPr/>
          <p:nvPr/>
        </p:nvSpPr>
        <p:spPr>
          <a:xfrm>
            <a:off x="777240" y="13716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25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Technical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React, TypeScript, Vite, Tailwind, Firebase, Vercel, role-based access, CRUD, search and filtering.</a:t>
            </a:r>
            <a:endParaRPr lang="en-US" sz="1200" dirty="0"/>
          </a:p>
        </p:txBody>
      </p:sp>
      <p:sp>
        <p:nvSpPr>
          <p:cNvPr id="9" name="Card Analytical"/>
          <p:cNvSpPr/>
          <p:nvPr/>
        </p:nvSpPr>
        <p:spPr>
          <a:xfrm>
            <a:off x="4663440" y="1188720"/>
            <a:ext cx="393192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 edge Analytical"/>
          <p:cNvSpPr/>
          <p:nvPr/>
        </p:nvSpPr>
        <p:spPr>
          <a:xfrm>
            <a:off x="4663440" y="1188720"/>
            <a:ext cx="54864" cy="16002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Badge 2"/>
          <p:cNvSpPr/>
          <p:nvPr/>
        </p:nvSpPr>
        <p:spPr>
          <a:xfrm>
            <a:off x="4892040" y="137160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1325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Analytical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Requirement gathering, process mapping, root cause analysis, KPI and weightage design.</a:t>
            </a:r>
            <a:endParaRPr lang="en-US" sz="1200" dirty="0"/>
          </a:p>
        </p:txBody>
      </p:sp>
      <p:sp>
        <p:nvSpPr>
          <p:cNvPr id="15" name="Card Plant knowledge"/>
          <p:cNvSpPr/>
          <p:nvPr/>
        </p:nvSpPr>
        <p:spPr>
          <a:xfrm>
            <a:off x="548640" y="2971800"/>
            <a:ext cx="393192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ard edge Plant knowledge"/>
          <p:cNvSpPr/>
          <p:nvPr/>
        </p:nvSpPr>
        <p:spPr>
          <a:xfrm>
            <a:off x="548640" y="2971800"/>
            <a:ext cx="54864" cy="1600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Badge 3"/>
          <p:cNvSpPr/>
          <p:nvPr/>
        </p:nvSpPr>
        <p:spPr>
          <a:xfrm>
            <a:off x="777240" y="31546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108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Plant knowledge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37033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Maintenance workflows, tool prioritisation from the daily production plan, breakdown vs preventive vs predictive maintenance, MTBF and MTTR.</a:t>
            </a:r>
            <a:endParaRPr lang="en-US" sz="1200" dirty="0"/>
          </a:p>
        </p:txBody>
      </p:sp>
      <p:sp>
        <p:nvSpPr>
          <p:cNvPr id="21" name="Card Professional"/>
          <p:cNvSpPr/>
          <p:nvPr/>
        </p:nvSpPr>
        <p:spPr>
          <a:xfrm>
            <a:off x="4663440" y="2971800"/>
            <a:ext cx="393192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Card edge Professional"/>
          <p:cNvSpPr/>
          <p:nvPr/>
        </p:nvSpPr>
        <p:spPr>
          <a:xfrm>
            <a:off x="4663440" y="2971800"/>
            <a:ext cx="54864" cy="160020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Badge 4"/>
          <p:cNvSpPr/>
          <p:nvPr/>
        </p:nvSpPr>
        <p:spPr>
          <a:xfrm>
            <a:off x="4892040" y="3154680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9204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394960" y="3108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Professional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892040" y="37033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Presenting a live demo, acting on feedback, documentation, safety discipline and time management.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and how I handled them</a:t>
            </a:r>
            <a:endParaRPr lang="en-US" sz="2800" dirty="0"/>
          </a:p>
        </p:txBody>
      </p:sp>
      <p:sp>
        <p:nvSpPr>
          <p:cNvPr id="3" name="Challenge 1"/>
          <p:cNvSpPr/>
          <p:nvPr/>
        </p:nvSpPr>
        <p:spPr>
          <a:xfrm>
            <a:off x="548640" y="1234440"/>
            <a:ext cx="8046720" cy="960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hallenge edge 1"/>
          <p:cNvSpPr/>
          <p:nvPr/>
        </p:nvSpPr>
        <p:spPr>
          <a:xfrm>
            <a:off x="548640" y="1234440"/>
            <a:ext cx="54864" cy="9601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258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Quick incident reporting on the shop floor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13258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Designed the form with minimal clicks for frequent issue types</a:t>
            </a:r>
            <a:endParaRPr lang="en-US" sz="1300" dirty="0"/>
          </a:p>
        </p:txBody>
      </p:sp>
      <p:sp>
        <p:nvSpPr>
          <p:cNvPr id="7" name="Challenge 2"/>
          <p:cNvSpPr/>
          <p:nvPr/>
        </p:nvSpPr>
        <p:spPr>
          <a:xfrm>
            <a:off x="548640" y="2331720"/>
            <a:ext cx="8046720" cy="960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hallenge edge 2"/>
          <p:cNvSpPr/>
          <p:nvPr/>
        </p:nvSpPr>
        <p:spPr>
          <a:xfrm>
            <a:off x="548640" y="2331720"/>
            <a:ext cx="54864" cy="9601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4231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Bugs found in end-to-end testing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24231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Tested each module with sample plant data; fixed validation and responsiveness issues</a:t>
            </a:r>
            <a:endParaRPr lang="en-US" sz="1300" dirty="0"/>
          </a:p>
        </p:txBody>
      </p:sp>
      <p:sp>
        <p:nvSpPr>
          <p:cNvPr id="11" name="Challenge 3"/>
          <p:cNvSpPr/>
          <p:nvPr/>
        </p:nvSpPr>
        <p:spPr>
          <a:xfrm>
            <a:off x="548640" y="3429000"/>
            <a:ext cx="8046720" cy="960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hallenge edge 3"/>
          <p:cNvSpPr/>
          <p:nvPr/>
        </p:nvSpPr>
        <p:spPr>
          <a:xfrm>
            <a:off x="548640" y="3429000"/>
            <a:ext cx="54864" cy="9601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5204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Capturing an undocumented store process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35204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Interviewed staff, mapped all 50 steps, then ran root cause analysis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Connect machine sensor data to the dashboard (instrumentation link)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Add alerts for repeated or critical breakdowns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Extend the SOP chatbot to more procedures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Digitize the MPAS store process and deploy VEMS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 Questions?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dustrial Navy">
  <a:themeElements>
    <a:clrScheme name="Industrial Navy">
      <a:dk1>
        <a:srgbClr val="1B1F2B"/>
      </a:dk1>
      <a:lt1>
        <a:srgbClr val="FFFFFF"/>
      </a:lt1>
      <a:dk2>
        <a:srgbClr val="14213D"/>
      </a:dk2>
      <a:lt2>
        <a:srgbClr val="F1F3F7"/>
      </a:lt2>
      <a:accent1>
        <a:srgbClr val="FCA311"/>
      </a:accent1>
      <a:accent2>
        <a:srgbClr val="2A4D7A"/>
      </a:accent2>
      <a:accent3>
        <a:srgbClr val="5C6B80"/>
      </a:accent3>
      <a:accent4>
        <a:srgbClr val="2E8B6A"/>
      </a:accent4>
      <a:accent5>
        <a:srgbClr val="C8553D"/>
      </a:accent5>
      <a:accent6>
        <a:srgbClr val="8FA3BF"/>
      </a:accent6>
      <a:hlink>
        <a:srgbClr val="2A4D7A"/>
      </a:hlink>
      <a:folHlink>
        <a:srgbClr val="5C6B80"/>
      </a:folHlink>
    </a:clrScheme>
    <a:fontScheme name="Industrial Navy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Summer Industrial Internship – Viva Presentation</dc:title>
  <dc:subject>PptxGenJS Presentation</dc:subject>
  <dc:creator>Shreyansh Choudhary</dc:creator>
  <cp:lastModifiedBy>Shreyansh Choudhary</cp:lastModifiedBy>
  <cp:revision>1</cp:revision>
  <dcterms:created xsi:type="dcterms:W3CDTF">2026-10-14T06:23:01Z</dcterms:created>
  <dcterms:modified xsi:type="dcterms:W3CDTF">2026-10-14T06:23:01Z</dcterms:modified>
</cp:coreProperties>
</file>